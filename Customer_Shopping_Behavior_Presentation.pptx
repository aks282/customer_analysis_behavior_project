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(USD)</c:v>
                </c:pt>
              </c:strCache>
            </c:strRef>
          </c:tx>
          <c:spPr>
            <a:solidFill>
              <a:srgbClr val="E8C56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E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C56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2E44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Female</c:v>
                  </c:pt>
                  <c:pt idx="1">
                    <c:v>Male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75191</c:v>
                </c:pt>
                <c:pt idx="1">
                  <c:v>157890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E4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Subscription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2E44"/>
              </a:solidFill>
              <a:effectLst/>
            </c:spPr>
          </c:dPt>
          <c:dPt>
            <c:idx val="1"/>
            <c:bubble3D val="0"/>
            <c:spPr>
              <a:solidFill>
                <a:srgbClr val="E8C56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Subscribed (27%)</c:v>
                </c:pt>
                <c:pt idx="1">
                  <c:v>Non-Subscribed (73%)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1053</c:v>
                </c:pt>
                <c:pt idx="1">
                  <c:v>2847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Q6: Most Discount-Dependent Products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Discount Rate (%)</c:v>
                </c:pt>
              </c:strCache>
            </c:strRef>
          </c:tx>
          <c:spPr>
            <a:solidFill>
              <a:srgbClr val="C998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E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Hat</c:v>
                  </c:pt>
                  <c:pt idx="1">
                    <c:v>Sneakers</c:v>
                  </c:pt>
                  <c:pt idx="2">
                    <c:v>Coat</c:v>
                  </c:pt>
                  <c:pt idx="3">
                    <c:v>Sweater</c:v>
                  </c:pt>
                  <c:pt idx="4">
                    <c:v>Pants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</c:v>
                </c:pt>
                <c:pt idx="1">
                  <c:v>49.66</c:v>
                </c:pt>
                <c:pt idx="2">
                  <c:v>49.07</c:v>
                </c:pt>
                <c:pt idx="3">
                  <c:v>48.17</c:v>
                </c:pt>
                <c:pt idx="4">
                  <c:v>47.37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E4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 (USD)</c:v>
                </c:pt>
              </c:strCache>
            </c:strRef>
          </c:tx>
          <c:spPr>
            <a:solidFill>
              <a:srgbClr val="C998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E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982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C56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0B0C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0BEC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Young Adult</c:v>
                  </c:pt>
                  <c:pt idx="1">
                    <c:v>Middle-Aged</c:v>
                  </c:pt>
                  <c:pt idx="2">
                    <c:v>Adult</c:v>
                  </c:pt>
                  <c:pt idx="3">
                    <c:v>Senior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62143</c:v>
                </c:pt>
                <c:pt idx="1">
                  <c:v>59197</c:v>
                </c:pt>
                <c:pt idx="2">
                  <c:v>55978</c:v>
                </c:pt>
                <c:pt idx="3">
                  <c:v>55763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E4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982A"/>
          </a:solidFill>
          <a:ln w="12700">
            <a:solidFill>
              <a:srgbClr val="C998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1435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2926080" cy="54864"/>
          </a:xfrm>
          <a:prstGeom prst="rect">
            <a:avLst/>
          </a:prstGeom>
          <a:solidFill>
            <a:srgbClr val="C9982A"/>
          </a:solidFill>
          <a:ln w="12700">
            <a:solidFill>
              <a:srgbClr val="C998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9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ANALYSIS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Uncovering insights from 3,900 purchases to guide strategic business decisions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337560"/>
            <a:ext cx="1828800" cy="11430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998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3832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9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38587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3337560"/>
            <a:ext cx="1828800" cy="11430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998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33832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9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560320" y="38587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Features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3337560"/>
            <a:ext cx="1828800" cy="11430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998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3832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9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663440" y="38587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66560" y="3337560"/>
            <a:ext cx="1828800" cy="11430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998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33832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9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766560" y="38587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Python  |  PostgreSQL  |  Power BI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0" y="46634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9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Akshara Tiwari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STATEMENT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1234440"/>
          </a:xfrm>
          <a:prstGeom prst="rect">
            <a:avLst/>
          </a:prstGeom>
          <a:solidFill>
            <a:srgbClr val="EDE0C4"/>
          </a:solidFill>
          <a:ln w="25400">
            <a:solidFill>
              <a:srgbClr val="C998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109728" cy="1234440"/>
          </a:xfrm>
          <a:prstGeom prst="rect">
            <a:avLst/>
          </a:prstGeom>
          <a:solidFill>
            <a:srgbClr val="C9982A"/>
          </a:solidFill>
          <a:ln w="12700">
            <a:solidFill>
              <a:srgbClr val="C998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14400"/>
            <a:ext cx="8046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can the company leverage consumer shopping data to identify trends, improve customer engagement, and optimize marketing and product strategies?"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Questions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670048"/>
            <a:ext cx="4023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734056"/>
            <a:ext cx="228600" cy="228600"/>
          </a:xfrm>
          <a:prstGeom prst="ellipse">
            <a:avLst/>
          </a:prstGeom>
          <a:solidFill>
            <a:srgbClr val="C9982A"/>
          </a:solidFill>
          <a:ln w="12700">
            <a:solidFill>
              <a:srgbClr val="C998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715768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3232" y="2706624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differences between male &amp; female customers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099816"/>
            <a:ext cx="4023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3163824"/>
            <a:ext cx="228600" cy="228600"/>
          </a:xfrm>
          <a:prstGeom prst="ellipse">
            <a:avLst/>
          </a:prstGeom>
          <a:solidFill>
            <a:srgbClr val="C9982A"/>
          </a:solidFill>
          <a:ln w="12700">
            <a:solidFill>
              <a:srgbClr val="C998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145536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13232" y="313639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High-spending discount users — discount effectiveness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529584"/>
            <a:ext cx="4023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593592"/>
            <a:ext cx="228600" cy="228600"/>
          </a:xfrm>
          <a:prstGeom prst="ellipse">
            <a:avLst/>
          </a:prstGeom>
          <a:solidFill>
            <a:srgbClr val="C9982A"/>
          </a:solidFill>
          <a:ln w="12700">
            <a:solidFill>
              <a:srgbClr val="C998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575304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3232" y="356616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with highest review ratings for promotion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959352"/>
            <a:ext cx="4023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4023360"/>
            <a:ext cx="228600" cy="228600"/>
          </a:xfrm>
          <a:prstGeom prst="ellipse">
            <a:avLst/>
          </a:prstGeom>
          <a:solidFill>
            <a:srgbClr val="C9982A"/>
          </a:solidFill>
          <a:ln w="12700">
            <a:solidFill>
              <a:srgbClr val="C998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005072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13232" y="399592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type correlation with purchase amounts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389120"/>
            <a:ext cx="4023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C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4453128"/>
            <a:ext cx="228600" cy="228600"/>
          </a:xfrm>
          <a:prstGeom prst="ellipse">
            <a:avLst/>
          </a:prstGeom>
          <a:solidFill>
            <a:srgbClr val="C9982A"/>
          </a:solidFill>
          <a:ln w="12700">
            <a:solidFill>
              <a:srgbClr val="C998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434840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13232" y="442569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program value &amp; revenue impact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54880" y="22860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Questions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2670048"/>
            <a:ext cx="4023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C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82312" y="2734056"/>
            <a:ext cx="274320" cy="228600"/>
          </a:xfrm>
          <a:prstGeom prst="ellipse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715768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74920" y="2706624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most dependent on discounts — pricing problem?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3099816"/>
            <a:ext cx="4023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C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82312" y="3163824"/>
            <a:ext cx="274320" cy="228600"/>
          </a:xfrm>
          <a:prstGeom prst="ellipse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145536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074920" y="313639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distribution: New, Returning &amp; Loyal segments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54880" y="3529584"/>
            <a:ext cx="4023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C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82312" y="3593592"/>
            <a:ext cx="274320" cy="228600"/>
          </a:xfrm>
          <a:prstGeom prst="ellipse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3575304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074920" y="356616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Top-selling products per category — inventory alignment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54880" y="3959352"/>
            <a:ext cx="4023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C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82312" y="4023360"/>
            <a:ext cx="274320" cy="228600"/>
          </a:xfrm>
          <a:prstGeom prst="ellipse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4005072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074920" y="399592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buyers vs subscription conversion opportunity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54880" y="4389120"/>
            <a:ext cx="4023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C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82312" y="4453128"/>
            <a:ext cx="274320" cy="228600"/>
          </a:xfrm>
          <a:prstGeom prst="ellipse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0" y="4434840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074920" y="442569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 revenue contribution — marketing targeting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965960" cy="141732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6012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9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74320" y="153619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81051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transactions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50592" y="868680"/>
            <a:ext cx="1965960" cy="141732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0592" y="96012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9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450592" y="153619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Columns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50592" y="181051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per record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26864" y="868680"/>
            <a:ext cx="1965960" cy="141732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26864" y="96012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9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626864" y="153619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26864" y="181051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in Review Rating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03136" y="868680"/>
            <a:ext cx="1965960" cy="141732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03136" y="96012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9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803136" y="153619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03136" y="181051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Clothing, Footwear, Accessories, Outerwear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2468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Groups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2852928"/>
            <a:ext cx="4114800" cy="420624"/>
          </a:xfrm>
          <a:prstGeom prst="rect">
            <a:avLst/>
          </a:prstGeom>
          <a:solidFill>
            <a:srgbClr val="EDE0C4"/>
          </a:solidFill>
          <a:ln w="12700">
            <a:solidFill>
              <a:srgbClr val="EDE0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88950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Demographics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920240" y="288950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Gender, Location, Subscription Status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337560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337413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Details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920240" y="337413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Item, Category, Amount, Season, Size, Color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3822192"/>
            <a:ext cx="4114800" cy="420624"/>
          </a:xfrm>
          <a:prstGeom prst="rect">
            <a:avLst/>
          </a:prstGeom>
          <a:solidFill>
            <a:srgbClr val="EDE0C4"/>
          </a:solidFill>
          <a:ln w="12700">
            <a:solidFill>
              <a:srgbClr val="EDE0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85876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Behavior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920240" y="38587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Discount, Previous Purchases, Frequency, Rating, Shipping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4306824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43434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920240" y="4343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29200" y="2468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Ranges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846320" y="2852928"/>
            <a:ext cx="3931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2852928"/>
            <a:ext cx="91440" cy="530352"/>
          </a:xfrm>
          <a:prstGeom prst="rect">
            <a:avLst/>
          </a:prstGeom>
          <a:solidFill>
            <a:srgbClr val="C9982A"/>
          </a:solidFill>
          <a:ln w="12700">
            <a:solidFill>
              <a:srgbClr val="C998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47488" y="288950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Range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47488" y="309981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– 70 years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846320" y="3493008"/>
            <a:ext cx="3931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46320" y="3493008"/>
            <a:ext cx="91440" cy="530352"/>
          </a:xfrm>
          <a:prstGeom prst="rect">
            <a:avLst/>
          </a:prstGeom>
          <a:solidFill>
            <a:srgbClr val="C9982A"/>
          </a:solidFill>
          <a:ln w="12700">
            <a:solidFill>
              <a:srgbClr val="C998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47488" y="352958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Amount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047488" y="373989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 – $100 USD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846320" y="4133088"/>
            <a:ext cx="3931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846320" y="4133088"/>
            <a:ext cx="91440" cy="530352"/>
          </a:xfrm>
          <a:prstGeom prst="rect">
            <a:avLst/>
          </a:prstGeom>
          <a:solidFill>
            <a:srgbClr val="C9982A"/>
          </a:solidFill>
          <a:ln w="12700">
            <a:solidFill>
              <a:srgbClr val="C9982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47488" y="416966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Rating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047488" y="437997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– 5.0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— PYTHON EDA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658368" cy="123444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658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9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24128" y="94183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24128" y="1252728"/>
            <a:ext cx="3246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dataset using pandas; used df.info() and df.describe() for structure and summary statistics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224028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240280"/>
            <a:ext cx="658368" cy="123444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331720"/>
            <a:ext cx="658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9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24128" y="231343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 Handling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24128" y="2624328"/>
            <a:ext cx="3246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Imputed 37 missing Review Rating values with the median rating per product category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61188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611880"/>
            <a:ext cx="658368" cy="123444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703320"/>
            <a:ext cx="658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9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24128" y="368503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Standardization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24128" y="3995928"/>
            <a:ext cx="3246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Renamed all columns to snake_case for consistency and readability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86868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868680"/>
            <a:ext cx="658368" cy="123444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960120"/>
            <a:ext cx="658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9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04688" y="94183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04688" y="1252728"/>
            <a:ext cx="3246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age_group using pd.qcut() (4 quartile segments) and purchase_frequency_days from frequency field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224028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240280"/>
            <a:ext cx="658368" cy="123444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331720"/>
            <a:ext cx="658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9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504688" y="231343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Consistency Check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04688" y="2624328"/>
            <a:ext cx="3246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discount_applied and promo_code_used were redundant; dropped promo_code_used to reduce noise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361188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611880"/>
            <a:ext cx="658368" cy="123444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703320"/>
            <a:ext cx="658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9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504688" y="368503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504688" y="3995928"/>
            <a:ext cx="3246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Python to PostgreSQL via SQLAlchemy; loaded cleaned DataFrame as the customer table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REVENUE BY GENDER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0" y="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E8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822960"/>
          <a:ext cx="50292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669280" y="914400"/>
            <a:ext cx="3200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669280" y="914400"/>
            <a:ext cx="91440" cy="109728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52160" y="98755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$157,890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852160" y="137160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Revenue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52160" y="1627632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 revenue vs female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669280" y="2194560"/>
            <a:ext cx="3200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69280" y="2194560"/>
            <a:ext cx="91440" cy="1097280"/>
          </a:xfrm>
          <a:prstGeom prst="rect">
            <a:avLst/>
          </a:prstGeom>
          <a:solidFill>
            <a:srgbClr val="E8C56A"/>
          </a:solidFill>
          <a:ln w="12700">
            <a:solidFill>
              <a:srgbClr val="E8C56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52160" y="226771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$75,191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852160" y="265176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Revenue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852160" y="2907792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engagement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669280" y="3474720"/>
            <a:ext cx="3200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669280" y="3474720"/>
            <a:ext cx="91440" cy="1097280"/>
          </a:xfrm>
          <a:prstGeom prst="rect">
            <a:avLst/>
          </a:prstGeom>
          <a:solidFill>
            <a:srgbClr val="E8C56A"/>
          </a:solidFill>
          <a:ln w="12700">
            <a:solidFill>
              <a:srgbClr val="E8C56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52160" y="354787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~2x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852160" y="393192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Ratio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852160" y="4187952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vs Female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669280" y="4096512"/>
            <a:ext cx="3200400" cy="50292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715000" y="41148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Male customers drove ~2x revenue, largely due to higher customer count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&amp; Q3 — DISCOUNT USERS &amp; TOP-RATED PRODUCTS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0233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4023360" cy="411480"/>
          </a:xfrm>
          <a:prstGeom prst="rect">
            <a:avLst/>
          </a:prstGeom>
          <a:solidFill>
            <a:srgbClr val="C9982A"/>
          </a:solidFill>
          <a:ln w="12700">
            <a:solidFill>
              <a:srgbClr val="C998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046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High-Spending Discount Users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28016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839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365760" y="21031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used discounts yet still spent ABOVE average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633472"/>
            <a:ext cx="3474720" cy="347472"/>
          </a:xfrm>
          <a:prstGeom prst="rect">
            <a:avLst/>
          </a:prstGeom>
          <a:solidFill>
            <a:srgbClr val="EDE0C4"/>
          </a:solidFill>
          <a:ln w="12700">
            <a:solidFill>
              <a:srgbClr val="EDE0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334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Purchase Amount: $59.76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3127248"/>
            <a:ext cx="201168" cy="201168"/>
          </a:xfrm>
          <a:prstGeom prst="ellipse">
            <a:avLst/>
          </a:prstGeom>
          <a:solidFill>
            <a:srgbClr val="C9982A"/>
          </a:solidFill>
          <a:ln w="12700">
            <a:solidFill>
              <a:srgbClr val="C998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309067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do NOT significantly reduce per-transaction value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3611880"/>
            <a:ext cx="201168" cy="201168"/>
          </a:xfrm>
          <a:prstGeom prst="ellipse">
            <a:avLst/>
          </a:prstGeom>
          <a:solidFill>
            <a:srgbClr val="C9982A"/>
          </a:solidFill>
          <a:ln w="12700">
            <a:solidFill>
              <a:srgbClr val="C998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" y="3575304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buyers are premium customers who maximize value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4096512"/>
            <a:ext cx="201168" cy="201168"/>
          </a:xfrm>
          <a:prstGeom prst="ellipse">
            <a:avLst/>
          </a:prstGeom>
          <a:solidFill>
            <a:srgbClr val="C9982A"/>
          </a:solidFill>
          <a:ln w="12700">
            <a:solidFill>
              <a:srgbClr val="C998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" y="4059936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offer exclusive deals to retain them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0" y="804672"/>
            <a:ext cx="42976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804672"/>
            <a:ext cx="4297680" cy="41148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80467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Top 5 Products by Avg. Review Rating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1325880"/>
            <a:ext cx="4114800" cy="548640"/>
          </a:xfrm>
          <a:prstGeom prst="rect">
            <a:avLst/>
          </a:prstGeom>
          <a:solidFill>
            <a:srgbClr val="EDE0C4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3258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12080" y="13258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132320" y="1463040"/>
            <a:ext cx="2011680" cy="274320"/>
          </a:xfrm>
          <a:prstGeom prst="rect">
            <a:avLst/>
          </a:prstGeom>
          <a:solidFill>
            <a:srgbClr val="E0D8C8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0" y="1463040"/>
            <a:ext cx="1553017" cy="274320"/>
          </a:xfrm>
          <a:prstGeom prst="rect">
            <a:avLst/>
          </a:prstGeom>
          <a:solidFill>
            <a:srgbClr val="C9982A"/>
          </a:solidFill>
          <a:ln w="12700">
            <a:solidFill>
              <a:srgbClr val="C998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13258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1984248"/>
            <a:ext cx="4114800" cy="548640"/>
          </a:xfrm>
          <a:prstGeom prst="rect">
            <a:avLst/>
          </a:prstGeom>
          <a:solidFill>
            <a:srgbClr val="FDFAF4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1984248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12080" y="198424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Sandals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132320" y="2121408"/>
            <a:ext cx="2011680" cy="274320"/>
          </a:xfrm>
          <a:prstGeom prst="rect">
            <a:avLst/>
          </a:prstGeom>
          <a:solidFill>
            <a:srgbClr val="E0D8C8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32320" y="2121408"/>
            <a:ext cx="1544970" cy="274320"/>
          </a:xfrm>
          <a:prstGeom prst="rect">
            <a:avLst/>
          </a:prstGeom>
          <a:solidFill>
            <a:srgbClr val="C9982A"/>
          </a:solidFill>
          <a:ln w="12700">
            <a:solidFill>
              <a:srgbClr val="C998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0" y="1984248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3.84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2642616"/>
            <a:ext cx="4114800" cy="548640"/>
          </a:xfrm>
          <a:prstGeom prst="rect">
            <a:avLst/>
          </a:prstGeom>
          <a:solidFill>
            <a:srgbClr val="EDE0C4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2642616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12080" y="2642616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132320" y="2779776"/>
            <a:ext cx="2011680" cy="274320"/>
          </a:xfrm>
          <a:prstGeom prst="rect">
            <a:avLst/>
          </a:prstGeom>
          <a:solidFill>
            <a:srgbClr val="E0D8C8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32320" y="2779776"/>
            <a:ext cx="1536924" cy="274320"/>
          </a:xfrm>
          <a:prstGeom prst="rect">
            <a:avLst/>
          </a:prstGeom>
          <a:solidFill>
            <a:srgbClr val="C9982A"/>
          </a:solidFill>
          <a:ln w="12700">
            <a:solidFill>
              <a:srgbClr val="C998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0" y="2642616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3.82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3300984"/>
            <a:ext cx="4114800" cy="548640"/>
          </a:xfrm>
          <a:prstGeom prst="rect">
            <a:avLst/>
          </a:prstGeom>
          <a:solidFill>
            <a:srgbClr val="FDFAF4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3300984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212080" y="330098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132320" y="3438144"/>
            <a:ext cx="2011680" cy="274320"/>
          </a:xfrm>
          <a:prstGeom prst="rect">
            <a:avLst/>
          </a:prstGeom>
          <a:solidFill>
            <a:srgbClr val="E0D8C8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132320" y="3438144"/>
            <a:ext cx="1528877" cy="274320"/>
          </a:xfrm>
          <a:prstGeom prst="rect">
            <a:avLst/>
          </a:prstGeom>
          <a:solidFill>
            <a:srgbClr val="C9982A"/>
          </a:solidFill>
          <a:ln w="12700">
            <a:solidFill>
              <a:srgbClr val="C998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0" y="3300984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663440" y="3959352"/>
            <a:ext cx="4114800" cy="548640"/>
          </a:xfrm>
          <a:prstGeom prst="rect">
            <a:avLst/>
          </a:prstGeom>
          <a:solidFill>
            <a:srgbClr val="EDE0C4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09160" y="395935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212080" y="395935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Skirt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132320" y="4096512"/>
            <a:ext cx="2011680" cy="274320"/>
          </a:xfrm>
          <a:prstGeom prst="rect">
            <a:avLst/>
          </a:prstGeom>
          <a:solidFill>
            <a:srgbClr val="E0D8C8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32320" y="4096512"/>
            <a:ext cx="1520830" cy="274320"/>
          </a:xfrm>
          <a:prstGeom prst="rect">
            <a:avLst/>
          </a:prstGeom>
          <a:solidFill>
            <a:srgbClr val="C9982A"/>
          </a:solidFill>
          <a:ln w="12700">
            <a:solidFill>
              <a:srgbClr val="C9982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766560" y="3959352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3.78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663440" y="46177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are tightly clustered 3.78–3.86, suggesting consistently moderate satisfaction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&amp; Q5 — SHIPPING TYPE &amp; SUBSCRIPTION IMPACT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0233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4023360" cy="411480"/>
          </a:xfrm>
          <a:prstGeom prst="rect">
            <a:avLst/>
          </a:prstGeom>
          <a:solidFill>
            <a:srgbClr val="C9982A"/>
          </a:solidFill>
          <a:ln w="12700">
            <a:solidFill>
              <a:srgbClr val="C998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046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Q4: Standard vs. Express Shipping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3566160" cy="118872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39903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Shipping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709928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$60.48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3566160" cy="1188720"/>
          </a:xfrm>
          <a:prstGeom prst="rect">
            <a:avLst/>
          </a:prstGeom>
          <a:solidFill>
            <a:srgbClr val="E8C56A"/>
          </a:solidFill>
          <a:ln w="12700">
            <a:solidFill>
              <a:srgbClr val="E8C5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81635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Shipping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127248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$58.46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57200" y="413308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Purchase Amount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4407408"/>
            <a:ext cx="3566160" cy="384048"/>
          </a:xfrm>
          <a:prstGeom prst="rect">
            <a:avLst/>
          </a:prstGeom>
          <a:solidFill>
            <a:srgbClr val="EDE0C4"/>
          </a:solidFill>
          <a:ln w="12700">
            <a:solidFill>
              <a:srgbClr val="EDE0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40740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users spend ~$2 more per order — higher-value purchases come with urgency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0" y="804672"/>
            <a:ext cx="42976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804672"/>
            <a:ext cx="4297680" cy="41148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80467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Q5: Subscribers vs. Non-Subscribers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1298448"/>
            <a:ext cx="1143000" cy="347472"/>
          </a:xfrm>
          <a:prstGeom prst="rect">
            <a:avLst/>
          </a:prstGeom>
          <a:solidFill>
            <a:srgbClr val="EDE0C4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1298448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806440" y="1298448"/>
            <a:ext cx="1051560" cy="347472"/>
          </a:xfrm>
          <a:prstGeom prst="rect">
            <a:avLst/>
          </a:prstGeom>
          <a:solidFill>
            <a:srgbClr val="EDE0C4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06440" y="1298448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58000" y="1298448"/>
            <a:ext cx="960120" cy="347472"/>
          </a:xfrm>
          <a:prstGeom prst="rect">
            <a:avLst/>
          </a:prstGeom>
          <a:solidFill>
            <a:srgbClr val="EDE0C4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1298448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818120" y="1298448"/>
            <a:ext cx="1024128" cy="347472"/>
          </a:xfrm>
          <a:prstGeom prst="rect">
            <a:avLst/>
          </a:prstGeom>
          <a:solidFill>
            <a:srgbClr val="EDE0C4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18120" y="1298448"/>
            <a:ext cx="1024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1719072"/>
            <a:ext cx="1143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1719072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806440" y="1719072"/>
            <a:ext cx="10515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06440" y="1719072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1,053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58000" y="1719072"/>
            <a:ext cx="9601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0" y="1719072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$59.49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818120" y="1719072"/>
            <a:ext cx="102412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18120" y="1719072"/>
            <a:ext cx="10241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$62,645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2194560"/>
            <a:ext cx="1143000" cy="411480"/>
          </a:xfrm>
          <a:prstGeom prst="rect">
            <a:avLst/>
          </a:prstGeom>
          <a:solidFill>
            <a:srgbClr val="FDFAF4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219456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Non-Sub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806440" y="2194560"/>
            <a:ext cx="1051560" cy="411480"/>
          </a:xfrm>
          <a:prstGeom prst="rect">
            <a:avLst/>
          </a:prstGeom>
          <a:solidFill>
            <a:srgbClr val="FDFAF4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06440" y="219456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2,847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858000" y="2194560"/>
            <a:ext cx="960120" cy="411480"/>
          </a:xfrm>
          <a:prstGeom prst="rect">
            <a:avLst/>
          </a:prstGeom>
          <a:solidFill>
            <a:srgbClr val="FDFAF4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2194560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$59.87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818120" y="2194560"/>
            <a:ext cx="1024128" cy="411480"/>
          </a:xfrm>
          <a:prstGeom prst="rect">
            <a:avLst/>
          </a:prstGeom>
          <a:solidFill>
            <a:srgbClr val="FDFAF4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18120" y="2194560"/>
            <a:ext cx="10241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$170,436</a:t>
            </a:r>
            <a:endParaRPr lang="en-US" sz="1000" dirty="0"/>
          </a:p>
        </p:txBody>
      </p:sp>
      <p:graphicFrame>
        <p:nvGraphicFramePr>
          <p:cNvPr id="43" name="Chart 0" descr=""/>
          <p:cNvGraphicFramePr/>
          <p:nvPr/>
        </p:nvGraphicFramePr>
        <p:xfrm>
          <a:off x="4663440" y="2743200"/>
          <a:ext cx="201168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4" name="Shape 41"/>
          <p:cNvSpPr/>
          <p:nvPr/>
        </p:nvSpPr>
        <p:spPr>
          <a:xfrm>
            <a:off x="6766560" y="2743200"/>
            <a:ext cx="2057400" cy="1920240"/>
          </a:xfrm>
          <a:prstGeom prst="rect">
            <a:avLst/>
          </a:prstGeom>
          <a:solidFill>
            <a:srgbClr val="EDE0C4"/>
          </a:solidFill>
          <a:ln w="12700">
            <a:solidFill>
              <a:srgbClr val="EDE0C4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858000" y="283464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6858000" y="3154680"/>
            <a:ext cx="19202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spend is nearly IDENTICAL ($59.49 vs $59.87). Non-subscribers generate more revenue simply due to volume.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Converting even 10% non-subscribers adds ~$17,000 in revenue.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&amp; Q7 — DISCOUNT-DEPENDENT PRODUCTS &amp; CUSTOMER SEGMENTS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49377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3703320"/>
            <a:ext cx="4937760" cy="457200"/>
          </a:xfrm>
          <a:prstGeom prst="rect">
            <a:avLst/>
          </a:prstGeom>
          <a:solidFill>
            <a:srgbClr val="EDE0C4"/>
          </a:solidFill>
          <a:ln w="12700">
            <a:solidFill>
              <a:srgbClr val="EDE0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37033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These products may struggle to sell at full price. Reassess margin vs. promotion frequency.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394960" y="804672"/>
            <a:ext cx="35204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394960" y="804672"/>
            <a:ext cx="3520440" cy="384048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0" y="804672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Q7: Customer Segmentation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0" y="1325880"/>
            <a:ext cx="3291840" cy="96012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532120" y="13716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532120" y="1737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11+ previous purchases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360920" y="137160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3,116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7360920" y="185623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base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486400" y="2423160"/>
            <a:ext cx="3291840" cy="960120"/>
          </a:xfrm>
          <a:prstGeom prst="rect">
            <a:avLst/>
          </a:prstGeom>
          <a:solidFill>
            <a:srgbClr val="C9982A"/>
          </a:solidFill>
          <a:ln w="12700">
            <a:solidFill>
              <a:srgbClr val="C998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532120" y="24688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532120" y="2834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2–10 previous purchases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360920" y="246888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701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7360920" y="295351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of base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486400" y="3520440"/>
            <a:ext cx="3291840" cy="960120"/>
          </a:xfrm>
          <a:prstGeom prst="rect">
            <a:avLst/>
          </a:prstGeom>
          <a:solidFill>
            <a:srgbClr val="E8C56A"/>
          </a:solidFill>
          <a:ln w="12700">
            <a:solidFill>
              <a:srgbClr val="E8C5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532120" y="35661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532120" y="3931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previous purchase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360920" y="356616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7360920" y="405079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 of base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486400" y="4297680"/>
            <a:ext cx="3291840" cy="475488"/>
          </a:xfrm>
          <a:prstGeom prst="rect">
            <a:avLst/>
          </a:prstGeom>
          <a:solidFill>
            <a:srgbClr val="EDE0C4"/>
          </a:solidFill>
          <a:ln w="12700">
            <a:solidFill>
              <a:srgbClr val="EDE0C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532120" y="4315968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Loyal customers = strong retention. Must grow the new customer funnel.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 &amp; Q9 — TOP PRODUCTS PER CATEGORY &amp; REPEAT BUYERS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Q8: Top 3 Products per Category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188720" cy="347472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430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08760" y="1143000"/>
            <a:ext cx="1325880" cy="347472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114300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Product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880360" y="1143000"/>
            <a:ext cx="1234440" cy="347472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114300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Product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60520" y="1143000"/>
            <a:ext cx="1234440" cy="347472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60520" y="114300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Product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1536192"/>
            <a:ext cx="1188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536192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508760" y="1536192"/>
            <a:ext cx="13258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54480" y="1536192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Jewelry (171)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880360" y="1536192"/>
            <a:ext cx="1234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0" y="1536192"/>
            <a:ext cx="1143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Sunglasses (161)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60520" y="1536192"/>
            <a:ext cx="1234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0" y="1536192"/>
            <a:ext cx="1143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Belt (161)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039112"/>
            <a:ext cx="1188720" cy="438912"/>
          </a:xfrm>
          <a:prstGeom prst="rect">
            <a:avLst/>
          </a:prstGeom>
          <a:solidFill>
            <a:srgbClr val="EDE0C4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039112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508760" y="2039112"/>
            <a:ext cx="1325880" cy="438912"/>
          </a:xfrm>
          <a:prstGeom prst="rect">
            <a:avLst/>
          </a:prstGeom>
          <a:solidFill>
            <a:srgbClr val="EDE0C4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54480" y="2039112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Blouse (171)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880360" y="2039112"/>
            <a:ext cx="1234440" cy="438912"/>
          </a:xfrm>
          <a:prstGeom prst="rect">
            <a:avLst/>
          </a:prstGeom>
          <a:solidFill>
            <a:srgbClr val="EDE0C4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0" y="2039112"/>
            <a:ext cx="1143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Pants (171)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60520" y="2039112"/>
            <a:ext cx="1234440" cy="438912"/>
          </a:xfrm>
          <a:prstGeom prst="rect">
            <a:avLst/>
          </a:prstGeom>
          <a:solidFill>
            <a:srgbClr val="EDE0C4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0" y="2039112"/>
            <a:ext cx="1143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Shirt (169)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2542032"/>
            <a:ext cx="1188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2542032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Footwear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08760" y="2542032"/>
            <a:ext cx="13258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54480" y="2542032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Sandals (160)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880360" y="2542032"/>
            <a:ext cx="1234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26080" y="2542032"/>
            <a:ext cx="1143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Shoes (150)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60520" y="2542032"/>
            <a:ext cx="1234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06240" y="2542032"/>
            <a:ext cx="1143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Sneakers (145)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4320" y="3044952"/>
            <a:ext cx="1188720" cy="438912"/>
          </a:xfrm>
          <a:prstGeom prst="rect">
            <a:avLst/>
          </a:prstGeom>
          <a:solidFill>
            <a:srgbClr val="EDE0C4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3044952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Outerwear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508760" y="3044952"/>
            <a:ext cx="1325880" cy="438912"/>
          </a:xfrm>
          <a:prstGeom prst="rect">
            <a:avLst/>
          </a:prstGeom>
          <a:solidFill>
            <a:srgbClr val="EDE0C4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554480" y="3044952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Jacket (163)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880360" y="3044952"/>
            <a:ext cx="1234440" cy="438912"/>
          </a:xfrm>
          <a:prstGeom prst="rect">
            <a:avLst/>
          </a:prstGeom>
          <a:solidFill>
            <a:srgbClr val="EDE0C4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26080" y="3044952"/>
            <a:ext cx="1143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Coat (161)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160520" y="3044952"/>
            <a:ext cx="1234440" cy="438912"/>
          </a:xfrm>
          <a:prstGeom prst="rect">
            <a:avLst/>
          </a:prstGeom>
          <a:solidFill>
            <a:srgbClr val="EDE0C4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06240" y="3044952"/>
            <a:ext cx="1143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Hoodie (154)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669280" y="777240"/>
            <a:ext cx="32461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669280" y="777240"/>
            <a:ext cx="3246120" cy="384048"/>
          </a:xfrm>
          <a:prstGeom prst="rect">
            <a:avLst/>
          </a:prstGeom>
          <a:solidFill>
            <a:srgbClr val="C9982A"/>
          </a:solidFill>
          <a:ln w="12700">
            <a:solidFill>
              <a:srgbClr val="C9982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60720" y="77724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Q9: Repeat Buyers &amp; Subscriptions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760720" y="126187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customers with &gt; 5 purchases: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760720" y="1645920"/>
            <a:ext cx="3017520" cy="1005840"/>
          </a:xfrm>
          <a:prstGeom prst="rect">
            <a:avLst/>
          </a:prstGeom>
          <a:solidFill>
            <a:srgbClr val="E8C56A"/>
          </a:solidFill>
          <a:ln w="12700">
            <a:solidFill>
              <a:srgbClr val="E8C56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60720" y="169164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3800" dirty="0"/>
          </a:p>
        </p:txBody>
      </p:sp>
      <p:sp>
        <p:nvSpPr>
          <p:cNvPr id="51" name="Text 49"/>
          <p:cNvSpPr/>
          <p:nvPr/>
        </p:nvSpPr>
        <p:spPr>
          <a:xfrm>
            <a:off x="6903720" y="17830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Subscribed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903720" y="21488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2,518 repeat buyers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760720" y="2834640"/>
            <a:ext cx="3017520" cy="100584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60720" y="288036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3800" dirty="0"/>
          </a:p>
        </p:txBody>
      </p:sp>
      <p:sp>
        <p:nvSpPr>
          <p:cNvPr id="55" name="Text 53"/>
          <p:cNvSpPr/>
          <p:nvPr/>
        </p:nvSpPr>
        <p:spPr>
          <a:xfrm>
            <a:off x="6903720" y="29718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Subscribed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903720" y="33375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958 repeat buyers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5760720" y="4114800"/>
            <a:ext cx="3017520" cy="658368"/>
          </a:xfrm>
          <a:prstGeom prst="rect">
            <a:avLst/>
          </a:prstGeom>
          <a:solidFill>
            <a:srgbClr val="EDE0C4"/>
          </a:solidFill>
          <a:ln w="12700">
            <a:solidFill>
              <a:srgbClr val="EDE0C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806440" y="4133088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 of repeat buyers are unsubscribed — a major missed conversion opportunity. A loyalty-linked incentive could convert them.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 — REVENUE BY AGE GROUP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804672"/>
          <a:ext cx="52120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822960"/>
            <a:ext cx="31546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760720" y="822960"/>
            <a:ext cx="91440" cy="841248"/>
          </a:xfrm>
          <a:prstGeom prst="rect">
            <a:avLst/>
          </a:prstGeom>
          <a:solidFill>
            <a:srgbClr val="C9982A"/>
          </a:solidFill>
          <a:ln w="12700">
            <a:solidFill>
              <a:srgbClr val="C998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61888" y="868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Adult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06640" y="86868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99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$62,143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61888" y="1170432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revenue group — priority for digital marketing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760720" y="1783080"/>
            <a:ext cx="31546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60720" y="1783080"/>
            <a:ext cx="91440" cy="841248"/>
          </a:xfrm>
          <a:prstGeom prst="rect">
            <a:avLst/>
          </a:prstGeom>
          <a:solidFill>
            <a:srgbClr val="C9982A"/>
          </a:solidFill>
          <a:ln w="12700">
            <a:solidFill>
              <a:srgbClr val="C9982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61888" y="18288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Middle-Aged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406640" y="182880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99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$59,197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961888" y="2130552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performer — seasonal promotions work well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760720" y="2743200"/>
            <a:ext cx="31546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760720" y="2743200"/>
            <a:ext cx="91440" cy="841248"/>
          </a:xfrm>
          <a:prstGeom prst="rect">
            <a:avLst/>
          </a:prstGeom>
          <a:solidFill>
            <a:srgbClr val="E8C56A"/>
          </a:solidFill>
          <a:ln w="12700">
            <a:solidFill>
              <a:srgbClr val="E8C56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61888" y="2788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406640" y="278892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99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$55,978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961888" y="3090672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base — focus on retention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760720" y="3703320"/>
            <a:ext cx="31546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760720" y="3703320"/>
            <a:ext cx="91440" cy="841248"/>
          </a:xfrm>
          <a:prstGeom prst="rect">
            <a:avLst/>
          </a:prstGeom>
          <a:solidFill>
            <a:srgbClr val="E8C56A"/>
          </a:solidFill>
          <a:ln w="12700">
            <a:solidFill>
              <a:srgbClr val="E8C56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61888" y="3749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406640" y="374904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99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$55,763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961888" y="4050792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to Adult segment — loyalty programs effective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9982A"/>
          </a:solidFill>
          <a:ln w="12700">
            <a:solidFill>
              <a:srgbClr val="C998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BUSINESS RECOMMENDATIONS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56032" y="822960"/>
            <a:ext cx="2788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22960"/>
            <a:ext cx="2788920" cy="384048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822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82296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Subscriptions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28016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of customers are unsubscribed. Since average spend is equal, converting even 10% adds ~$17,000 in tracked revenue.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359152"/>
            <a:ext cx="1463040" cy="256032"/>
          </a:xfrm>
          <a:prstGeom prst="rect">
            <a:avLst/>
          </a:prstGeom>
          <a:solidFill>
            <a:srgbClr val="EDE0C4"/>
          </a:solidFill>
          <a:ln w="12700">
            <a:solidFill>
              <a:srgbClr val="EDE0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35915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99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0" y="822960"/>
            <a:ext cx="2788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822960"/>
            <a:ext cx="2788920" cy="384048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73552" y="822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75888" y="82296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Loyalty Programs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10128" y="128016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3,116 Loyal customers deserve reward programs to deepen engagement and increase basket size.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310128" y="2359152"/>
            <a:ext cx="1463040" cy="256032"/>
          </a:xfrm>
          <a:prstGeom prst="rect">
            <a:avLst/>
          </a:prstGeom>
          <a:solidFill>
            <a:srgbClr val="EDE0C4"/>
          </a:solidFill>
          <a:ln w="12700">
            <a:solidFill>
              <a:srgbClr val="EDE0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235915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99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144768" y="822960"/>
            <a:ext cx="2788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44768" y="822960"/>
            <a:ext cx="2788920" cy="384048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822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20256" y="82296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Discount Policy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54496" y="128016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 (~50%) and Sneakers (~50%) have the highest discount rates. Reassess if margin justifies this promotion frequency.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54496" y="2359152"/>
            <a:ext cx="1463040" cy="256032"/>
          </a:xfrm>
          <a:prstGeom prst="rect">
            <a:avLst/>
          </a:prstGeom>
          <a:solidFill>
            <a:srgbClr val="EDE0C4"/>
          </a:solidFill>
          <a:ln w="12700">
            <a:solidFill>
              <a:srgbClr val="EDE0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54496" y="235915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99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Optimization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56032" y="2880360"/>
            <a:ext cx="2788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6032" y="2880360"/>
            <a:ext cx="2788920" cy="384048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" y="2880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1520" y="288036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Top-Rated Products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333756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Gloves, Sandals &amp; Boots carry the highest review ratings. Feature them prominently in campaigns.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4416552"/>
            <a:ext cx="1463040" cy="256032"/>
          </a:xfrm>
          <a:prstGeom prst="rect">
            <a:avLst/>
          </a:prstGeom>
          <a:solidFill>
            <a:srgbClr val="EDE0C4"/>
          </a:solidFill>
          <a:ln w="12700">
            <a:solidFill>
              <a:srgbClr val="EDE0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41655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99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Promotion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0" y="2880360"/>
            <a:ext cx="2788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0" y="2880360"/>
            <a:ext cx="2788920" cy="384048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73552" y="2880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675888" y="288036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Young Adults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310128" y="333756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Adults contribute the highest revenue ($62,143). Tailor digital campaigns to this high-value demographic.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310128" y="4416552"/>
            <a:ext cx="1463040" cy="256032"/>
          </a:xfrm>
          <a:prstGeom prst="rect">
            <a:avLst/>
          </a:prstGeom>
          <a:solidFill>
            <a:srgbClr val="EDE0C4"/>
          </a:solidFill>
          <a:ln w="12700">
            <a:solidFill>
              <a:srgbClr val="EDE0C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10128" y="441655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99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144768" y="2880360"/>
            <a:ext cx="2788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44768" y="2880360"/>
            <a:ext cx="2788920" cy="384048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0" y="2880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620256" y="288036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Repeat Buyers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54496" y="333756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 of repeat buyers (&gt;5 purchases) are unsubscribed. A loyalty-linked subscription incentive could convert them.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254496" y="4416552"/>
            <a:ext cx="1463040" cy="256032"/>
          </a:xfrm>
          <a:prstGeom prst="rect">
            <a:avLst/>
          </a:prstGeom>
          <a:solidFill>
            <a:srgbClr val="EDE0C4"/>
          </a:solidFill>
          <a:ln w="12700">
            <a:solidFill>
              <a:srgbClr val="EDE0C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54496" y="441655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99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982A"/>
          </a:solidFill>
          <a:ln w="12700">
            <a:solidFill>
              <a:srgbClr val="C998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9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Customer Shopping Behavior Analysis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47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9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371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Retention, Weaker Acquisition — 80% of customers are Loyal repeat buyers. The company must invest in new customer acquisition to sustain growth.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029968"/>
            <a:ext cx="347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9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02996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Opportunity — Low subscription rate (27%) despite equal average spend. A clear growth lever with significant revenue upside.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688336"/>
            <a:ext cx="347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9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2688336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Adults = Highest Revenue — $62,143 contribution; prioritize this segment in digital and social media marketing strategies.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346704"/>
            <a:ext cx="347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9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3346704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Dependency Risk — Several products (Hat, Sneakers, Coat) show ~50% discount rates; evaluate pricing strategy vs. perceived product value.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005072"/>
            <a:ext cx="347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9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4005072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Products Stand Alone — Top-rated items (Gloves, Sandals, Boots) don't overlap with discount-dependent ones, reinforcing they can sell at full price.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64592" y="4663440"/>
            <a:ext cx="8979408" cy="480060"/>
          </a:xfrm>
          <a:prstGeom prst="rect">
            <a:avLst/>
          </a:prstGeom>
          <a:solidFill>
            <a:srgbClr val="0F1E2E"/>
          </a:solidFill>
          <a:ln w="12700">
            <a:solidFill>
              <a:srgbClr val="0F1E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663440"/>
            <a:ext cx="64008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(pandas)  |  PostgreSQL  |  Power BI  |  3,900 Transactions  |  18 Features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0" y="4663440"/>
            <a:ext cx="201168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9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Akshara Tiwari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Behavior Analysis</dc:title>
  <dc:subject>PptxGenJS Presentation</dc:subject>
  <dc:creator>Akshara Tiwari</dc:creator>
  <cp:lastModifiedBy>Akshara Tiwari</cp:lastModifiedBy>
  <cp:revision>1</cp:revision>
  <dcterms:created xsi:type="dcterms:W3CDTF">2026-05-30T11:39:10Z</dcterms:created>
  <dcterms:modified xsi:type="dcterms:W3CDTF">2026-05-30T11:39:10Z</dcterms:modified>
</cp:coreProperties>
</file>